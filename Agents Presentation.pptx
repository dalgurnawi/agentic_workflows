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3D97-950F-FC2F-AA93-3A13A91CE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Where’s my money?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2EB58-23A2-50D2-E441-6943350D6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Agentic Workflows to Automate </a:t>
            </a:r>
            <a:r>
              <a:rPr lang="en-US" dirty="0" err="1"/>
              <a:t>PaYment</a:t>
            </a:r>
            <a:r>
              <a:rPr lang="en-US" dirty="0"/>
              <a:t> Matching in Accounts Receivables</a:t>
            </a:r>
          </a:p>
        </p:txBody>
      </p:sp>
    </p:spTree>
    <p:extLst>
      <p:ext uri="{BB962C8B-B14F-4D97-AF65-F5344CB8AC3E}">
        <p14:creationId xmlns:p14="http://schemas.microsoft.com/office/powerpoint/2010/main" val="313588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788F-7009-7EE9-7C34-7F20F432B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6806"/>
          </a:xfrm>
        </p:spPr>
        <p:txBody>
          <a:bodyPr/>
          <a:lstStyle/>
          <a:p>
            <a:r>
              <a:rPr lang="en-US" dirty="0"/>
              <a:t>The Premise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C075B-24B4-29BB-23CD-4609A78B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45325"/>
            <a:ext cx="9905999" cy="2707692"/>
          </a:xfrm>
        </p:spPr>
        <p:txBody>
          <a:bodyPr/>
          <a:lstStyle/>
          <a:p>
            <a:r>
              <a:rPr lang="en-US" dirty="0"/>
              <a:t>Can Agentic Workflows match information from bank statements to an Accounts Receivables ledger and match payments to invoices?</a:t>
            </a:r>
          </a:p>
          <a:p>
            <a:r>
              <a:rPr lang="en-US" dirty="0"/>
              <a:t>Dataset consists of fictitious accounts receivables, customer information, and payments.</a:t>
            </a:r>
          </a:p>
          <a:p>
            <a:r>
              <a:rPr lang="en-US" dirty="0"/>
              <a:t>The LLM MUST run locally. No API calls to OpenAI/Claude/Gemini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8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354A-7EDC-02AC-A9CA-A908AF71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3082"/>
          </a:xfrm>
        </p:spPr>
        <p:txBody>
          <a:bodyPr/>
          <a:lstStyle/>
          <a:p>
            <a:r>
              <a:rPr lang="en-US" dirty="0"/>
              <a:t>Why LLMs?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771E5-B301-65B6-9EA5-A0FB062C9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71600"/>
            <a:ext cx="9905999" cy="4419601"/>
          </a:xfrm>
        </p:spPr>
        <p:txBody>
          <a:bodyPr/>
          <a:lstStyle/>
          <a:p>
            <a:r>
              <a:rPr lang="en-US" dirty="0"/>
              <a:t>Payment matching is done based on information in the transaction reference.</a:t>
            </a:r>
          </a:p>
          <a:p>
            <a:r>
              <a:rPr lang="en-US" dirty="0"/>
              <a:t>Can be subjective/ not clearcut if information diverges from standard schema.</a:t>
            </a:r>
          </a:p>
          <a:p>
            <a:r>
              <a:rPr lang="en-US" dirty="0"/>
              <a:t>E.g. Instead of payment reference as Customer Nr – Invoice Nr – Additional Info -&gt; Additional Info – Customer Nr – Invoice Nr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43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F014-16C5-CA33-6422-68E3BF48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8337"/>
          </a:xfrm>
        </p:spPr>
        <p:txBody>
          <a:bodyPr/>
          <a:lstStyle/>
          <a:p>
            <a:r>
              <a:rPr lang="en-US" dirty="0"/>
              <a:t>Accounts Receivables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D9AC5F-854C-B03C-96BF-11694291B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1" y="2178589"/>
            <a:ext cx="9906000" cy="29584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8ABA4-0041-7A8D-6233-AEA8922ECA3D}"/>
              </a:ext>
            </a:extLst>
          </p:cNvPr>
          <p:cNvSpPr txBox="1"/>
          <p:nvPr/>
        </p:nvSpPr>
        <p:spPr>
          <a:xfrm>
            <a:off x="1141411" y="1408390"/>
            <a:ext cx="8447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Stored in Postgres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Payment information missing i.e. need to be updated</a:t>
            </a:r>
          </a:p>
        </p:txBody>
      </p:sp>
      <p:pic>
        <p:nvPicPr>
          <p:cNvPr id="10" name="Graphic 9" descr="Confused person with solid fill">
            <a:extLst>
              <a:ext uri="{FF2B5EF4-FFF2-40B4-BE49-F238E27FC236}">
                <a16:creationId xmlns:a16="http://schemas.microsoft.com/office/drawing/2014/main" id="{EF8F44E4-6FD0-0579-3050-32ECE5EE5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2194" y="3118242"/>
            <a:ext cx="1243913" cy="12439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54EFF7-2AB9-365B-883C-A71985F0F609}"/>
              </a:ext>
            </a:extLst>
          </p:cNvPr>
          <p:cNvSpPr txBox="1"/>
          <p:nvPr/>
        </p:nvSpPr>
        <p:spPr>
          <a:xfrm>
            <a:off x="9358273" y="274891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?!?!?</a:t>
            </a:r>
          </a:p>
        </p:txBody>
      </p:sp>
    </p:spTree>
    <p:extLst>
      <p:ext uri="{BB962C8B-B14F-4D97-AF65-F5344CB8AC3E}">
        <p14:creationId xmlns:p14="http://schemas.microsoft.com/office/powerpoint/2010/main" val="163716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AD07-B040-03A2-6EE5-B06E3F754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8368"/>
          </a:xfrm>
        </p:spPr>
        <p:txBody>
          <a:bodyPr/>
          <a:lstStyle/>
          <a:p>
            <a:r>
              <a:rPr lang="en-US" dirty="0"/>
              <a:t>Payments Received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171F9-6787-FAA6-435E-289D36261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413" y="2374900"/>
            <a:ext cx="6908800" cy="21082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477E1-67C6-3EFA-760D-CEF6068B111C}"/>
              </a:ext>
            </a:extLst>
          </p:cNvPr>
          <p:cNvSpPr txBox="1"/>
          <p:nvPr/>
        </p:nvSpPr>
        <p:spPr>
          <a:xfrm>
            <a:off x="1268413" y="1346886"/>
            <a:ext cx="6751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Stored in Postgres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Deviations such as  inconsistent references, partial payments etc.</a:t>
            </a:r>
          </a:p>
        </p:txBody>
      </p:sp>
    </p:spTree>
    <p:extLst>
      <p:ext uri="{BB962C8B-B14F-4D97-AF65-F5344CB8AC3E}">
        <p14:creationId xmlns:p14="http://schemas.microsoft.com/office/powerpoint/2010/main" val="91424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25C4-ED53-7D4D-4BE7-1ACBC1EA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0725"/>
          </a:xfrm>
        </p:spPr>
        <p:txBody>
          <a:bodyPr/>
          <a:lstStyle/>
          <a:p>
            <a:r>
              <a:rPr lang="en-US" dirty="0"/>
              <a:t>Frameworks, Models, and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0B2B-9C40-0F9B-94BF-5E7AE4987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5805"/>
            <a:ext cx="9905999" cy="4135396"/>
          </a:xfrm>
        </p:spPr>
        <p:txBody>
          <a:bodyPr/>
          <a:lstStyle/>
          <a:p>
            <a:r>
              <a:rPr lang="en-US" dirty="0" err="1"/>
              <a:t>LangChain</a:t>
            </a:r>
            <a:r>
              <a:rPr lang="en-US" dirty="0"/>
              <a:t> used as framework for simple workflows.</a:t>
            </a:r>
          </a:p>
          <a:p>
            <a:pPr lvl="1"/>
            <a:r>
              <a:rPr lang="en-US" dirty="0"/>
              <a:t>LLM decides what tools to use if any.</a:t>
            </a:r>
          </a:p>
          <a:p>
            <a:r>
              <a:rPr lang="en-US" dirty="0" err="1"/>
              <a:t>LangGraph</a:t>
            </a:r>
            <a:r>
              <a:rPr lang="en-US" dirty="0"/>
              <a:t> used as a framework specific workflows.</a:t>
            </a:r>
          </a:p>
          <a:p>
            <a:pPr lvl="1"/>
            <a:r>
              <a:rPr lang="en-US" dirty="0"/>
              <a:t>Useful if LLM needs to access tools in </a:t>
            </a:r>
            <a:r>
              <a:rPr lang="en-US" b="1" u="sng" dirty="0"/>
              <a:t>specific </a:t>
            </a:r>
            <a:r>
              <a:rPr lang="en-US" dirty="0"/>
              <a:t>order</a:t>
            </a:r>
          </a:p>
          <a:p>
            <a:r>
              <a:rPr lang="en-US" dirty="0" err="1"/>
              <a:t>LangSmith</a:t>
            </a:r>
            <a:r>
              <a:rPr lang="en-US" dirty="0"/>
              <a:t> used as a dashboard to monitor and review workflows</a:t>
            </a:r>
          </a:p>
          <a:p>
            <a:r>
              <a:rPr lang="en-US" dirty="0" err="1"/>
              <a:t>Ollama</a:t>
            </a:r>
            <a:r>
              <a:rPr lang="en-US" dirty="0"/>
              <a:t> used to run LLMs locally.</a:t>
            </a:r>
          </a:p>
          <a:p>
            <a:pPr lvl="1"/>
            <a:r>
              <a:rPr lang="en-US" dirty="0"/>
              <a:t>A number of models available. </a:t>
            </a:r>
          </a:p>
          <a:p>
            <a:pPr lvl="1"/>
            <a:r>
              <a:rPr lang="en-US" dirty="0"/>
              <a:t>Computational resource constraints models ~ 20bn used. </a:t>
            </a:r>
          </a:p>
        </p:txBody>
      </p:sp>
    </p:spTree>
    <p:extLst>
      <p:ext uri="{BB962C8B-B14F-4D97-AF65-F5344CB8AC3E}">
        <p14:creationId xmlns:p14="http://schemas.microsoft.com/office/powerpoint/2010/main" val="1538190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6149-C321-66D6-72EC-C118CBBC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US" dirty="0"/>
              <a:t>Agentic Workflow Trial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18FA-249D-C615-DEBE-DEDDA90F8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10963"/>
            <a:ext cx="9905999" cy="6425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“Here’s some </a:t>
            </a:r>
            <a:r>
              <a:rPr lang="en-US" dirty="0" err="1"/>
              <a:t>dataframes</a:t>
            </a:r>
            <a:r>
              <a:rPr lang="en-US" dirty="0"/>
              <a:t>. Do something with it” approach.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072DA-2F15-4D6C-0FAD-3F64CD4DB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1742303"/>
            <a:ext cx="5111107" cy="3461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BB3763-513C-F52A-F91F-9F7BF59789C1}"/>
              </a:ext>
            </a:extLst>
          </p:cNvPr>
          <p:cNvSpPr txBox="1"/>
          <p:nvPr/>
        </p:nvSpPr>
        <p:spPr>
          <a:xfrm>
            <a:off x="6672649" y="1853515"/>
            <a:ext cx="4497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 calls access Postgres and return AR and Payments </a:t>
            </a:r>
            <a:r>
              <a:rPr lang="en-US" dirty="0" err="1"/>
              <a:t>Dataframes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instructed to do reconciliations.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B2268-FC89-0EBD-C8A1-C371CF721D00}"/>
              </a:ext>
            </a:extLst>
          </p:cNvPr>
          <p:cNvSpPr txBox="1"/>
          <p:nvPr/>
        </p:nvSpPr>
        <p:spPr>
          <a:xfrm>
            <a:off x="6790273" y="2976265"/>
            <a:ext cx="43742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Outcome: </a:t>
            </a:r>
          </a:p>
          <a:p>
            <a:r>
              <a:rPr lang="en-US" dirty="0"/>
              <a:t>Failed miserably. </a:t>
            </a:r>
          </a:p>
          <a:p>
            <a:r>
              <a:rPr lang="en-US" dirty="0"/>
              <a:t>Model hallucinated - claimed to have reviewed all payments, no more outstanding invoices etc.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3326F-3BBF-52FA-03A6-414B3E0168DC}"/>
              </a:ext>
            </a:extLst>
          </p:cNvPr>
          <p:cNvSpPr txBox="1"/>
          <p:nvPr/>
        </p:nvSpPr>
        <p:spPr>
          <a:xfrm>
            <a:off x="6790273" y="4559310"/>
            <a:ext cx="4139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Why?</a:t>
            </a:r>
          </a:p>
          <a:p>
            <a:r>
              <a:rPr lang="en-US" dirty="0"/>
              <a:t>LLMs work badly with </a:t>
            </a:r>
            <a:r>
              <a:rPr lang="en-US" dirty="0" err="1"/>
              <a:t>dataframes</a:t>
            </a:r>
            <a:r>
              <a:rPr lang="en-US" dirty="0"/>
              <a:t>. Like giving a spreadsheet to a monkey.</a:t>
            </a:r>
          </a:p>
        </p:txBody>
      </p:sp>
    </p:spTree>
    <p:extLst>
      <p:ext uri="{BB962C8B-B14F-4D97-AF65-F5344CB8AC3E}">
        <p14:creationId xmlns:p14="http://schemas.microsoft.com/office/powerpoint/2010/main" val="352110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306C-2BB7-287D-896B-201E65B7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8941"/>
          </a:xfrm>
        </p:spPr>
        <p:txBody>
          <a:bodyPr/>
          <a:lstStyle/>
          <a:p>
            <a:r>
              <a:rPr lang="en-US" dirty="0"/>
              <a:t>Agentic Workflow Trial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62F31-5820-7C46-8D6A-254EF672D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96085"/>
            <a:ext cx="9905999" cy="6789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“I wrote a program for you, you just have to call it” approach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6D244-A46B-6F54-E0A5-0F52109D8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866695"/>
            <a:ext cx="5247030" cy="3369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89B9B2-D4C5-21B1-D55C-6C4F63B2F56B}"/>
              </a:ext>
            </a:extLst>
          </p:cNvPr>
          <p:cNvSpPr txBox="1"/>
          <p:nvPr/>
        </p:nvSpPr>
        <p:spPr>
          <a:xfrm>
            <a:off x="6549552" y="1866695"/>
            <a:ext cx="4497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 calls access Postgres and return AR and Payments </a:t>
            </a:r>
            <a:r>
              <a:rPr lang="en-US" dirty="0" err="1"/>
              <a:t>Dataframes</a:t>
            </a:r>
            <a:r>
              <a:rPr lang="en-US" dirty="0"/>
              <a:t> and does reconciliation.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B21BF2-765A-C3FC-7F45-752E38C21125}"/>
              </a:ext>
            </a:extLst>
          </p:cNvPr>
          <p:cNvSpPr txBox="1"/>
          <p:nvPr/>
        </p:nvSpPr>
        <p:spPr>
          <a:xfrm>
            <a:off x="6549552" y="2824334"/>
            <a:ext cx="61042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Outcome: </a:t>
            </a:r>
          </a:p>
          <a:p>
            <a:pPr marL="285750" indent="-285750">
              <a:buFontTx/>
              <a:buChar char="-"/>
            </a:pPr>
            <a:r>
              <a:rPr lang="en-US" dirty="0"/>
              <a:t>Mixed results</a:t>
            </a:r>
          </a:p>
          <a:p>
            <a:pPr marL="285750" indent="-285750">
              <a:buFontTx/>
              <a:buChar char="-"/>
            </a:pPr>
            <a:r>
              <a:rPr lang="en-US" dirty="0"/>
              <a:t>A lot of effort for simple task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 </a:t>
            </a:r>
            <a:r>
              <a:rPr lang="en-US" dirty="0" err="1"/>
              <a:t>LangChain</a:t>
            </a:r>
            <a:r>
              <a:rPr lang="en-US" dirty="0"/>
              <a:t> Framework, wouldn’t call tools in order,</a:t>
            </a:r>
          </a:p>
          <a:p>
            <a:r>
              <a:rPr lang="en-US" dirty="0"/>
              <a:t>	despite instruction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 </a:t>
            </a:r>
            <a:r>
              <a:rPr lang="en-US" dirty="0" err="1"/>
              <a:t>LangGraph</a:t>
            </a:r>
            <a:r>
              <a:rPr lang="en-US" dirty="0"/>
              <a:t> could set order BUT</a:t>
            </a:r>
          </a:p>
          <a:p>
            <a:r>
              <a:rPr lang="en-US" dirty="0"/>
              <a:t>	setup defeated purpose of using AI for decision making.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8D00FC-D130-81FF-A5FE-A3594FBA1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731" y="5000628"/>
            <a:ext cx="2960645" cy="16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57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CFAF-5358-F323-67E7-FA4BB530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8941"/>
          </a:xfrm>
        </p:spPr>
        <p:txBody>
          <a:bodyPr/>
          <a:lstStyle/>
          <a:p>
            <a:r>
              <a:rPr lang="en-US" dirty="0"/>
              <a:t>Agentic Workflow Trial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E615-118E-7A8C-A84D-0BC2BBC57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10373"/>
            <a:ext cx="9905999" cy="6789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“Go back to basics approach”.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296EC-C0F3-96E3-EDFC-F11D23BADC46}"/>
              </a:ext>
            </a:extLst>
          </p:cNvPr>
          <p:cNvSpPr txBox="1"/>
          <p:nvPr/>
        </p:nvSpPr>
        <p:spPr>
          <a:xfrm>
            <a:off x="941643" y="1878227"/>
            <a:ext cx="5152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Refocus on underlying data used when calling LLMs.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 Input –String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Rewrote tools to return </a:t>
            </a:r>
            <a:r>
              <a:rPr lang="en-US" dirty="0" err="1"/>
              <a:t>dataframe</a:t>
            </a:r>
            <a:r>
              <a:rPr lang="en-US" dirty="0"/>
              <a:t> as a dictionary string.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Left out reconciliation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7A3CC-8DC5-D28E-13D4-8F701781836C}"/>
              </a:ext>
            </a:extLst>
          </p:cNvPr>
          <p:cNvSpPr txBox="1"/>
          <p:nvPr/>
        </p:nvSpPr>
        <p:spPr>
          <a:xfrm>
            <a:off x="1141412" y="3608173"/>
            <a:ext cx="4789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Outcome: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success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depended on strength of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powerful local LLMs do not support tool calling such as DeepSeek-R1.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7CDF3D-CE22-6F3B-A701-EB9A0D6A7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444090"/>
              </p:ext>
            </p:extLst>
          </p:nvPr>
        </p:nvGraphicFramePr>
        <p:xfrm>
          <a:off x="6294180" y="1494892"/>
          <a:ext cx="5630088" cy="287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696">
                  <a:extLst>
                    <a:ext uri="{9D8B030D-6E8A-4147-A177-3AD203B41FA5}">
                      <a16:colId xmlns:a16="http://schemas.microsoft.com/office/drawing/2014/main" val="1072396598"/>
                    </a:ext>
                  </a:extLst>
                </a:gridCol>
                <a:gridCol w="1876696">
                  <a:extLst>
                    <a:ext uri="{9D8B030D-6E8A-4147-A177-3AD203B41FA5}">
                      <a16:colId xmlns:a16="http://schemas.microsoft.com/office/drawing/2014/main" val="1290319513"/>
                    </a:ext>
                  </a:extLst>
                </a:gridCol>
                <a:gridCol w="1876696">
                  <a:extLst>
                    <a:ext uri="{9D8B030D-6E8A-4147-A177-3AD203B41FA5}">
                      <a16:colId xmlns:a16="http://schemas.microsoft.com/office/drawing/2014/main" val="328012510"/>
                    </a:ext>
                  </a:extLst>
                </a:gridCol>
              </a:tblGrid>
              <a:tr h="445119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909310"/>
                  </a:ext>
                </a:extLst>
              </a:tr>
              <a:tr h="432486">
                <a:tc>
                  <a:txBody>
                    <a:bodyPr/>
                    <a:lstStyle/>
                    <a:p>
                      <a:r>
                        <a:rPr lang="en-US" dirty="0"/>
                        <a:t>gpt-oss:20bn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Took the longest. </a:t>
                      </a:r>
                    </a:p>
                    <a:p>
                      <a:r>
                        <a:rPr lang="en-US" dirty="0"/>
                        <a:t>Ca. 1 Hour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729400"/>
                  </a:ext>
                </a:extLst>
              </a:tr>
              <a:tr h="877398">
                <a:tc>
                  <a:txBody>
                    <a:bodyPr/>
                    <a:lstStyle/>
                    <a:p>
                      <a:r>
                        <a:rPr lang="en-US" dirty="0"/>
                        <a:t>Qwen3:8bn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Took ca. 30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690549"/>
                  </a:ext>
                </a:extLst>
              </a:tr>
              <a:tr h="877398">
                <a:tc>
                  <a:txBody>
                    <a:bodyPr/>
                    <a:lstStyle/>
                    <a:p>
                      <a:r>
                        <a:rPr lang="en-US" dirty="0"/>
                        <a:t>Llama3.2: 3bn</a:t>
                      </a:r>
                    </a:p>
                    <a:p>
                      <a:r>
                        <a:rPr lang="en-US" dirty="0"/>
                        <a:t>Llama3.1: 1b</a:t>
                      </a:r>
                    </a:p>
                    <a:p>
                      <a:r>
                        <a:rPr lang="en-US" dirty="0"/>
                        <a:t>Llama3.1:8bn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 you even trying?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 but poor results. Failed with anything unusual.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212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861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AB40-6285-1F93-E767-F0C62C3D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54228"/>
          </a:xfrm>
        </p:spPr>
        <p:txBody>
          <a:bodyPr/>
          <a:lstStyle/>
          <a:p>
            <a:r>
              <a:rPr lang="en-US" dirty="0"/>
              <a:t>Agentic Workflow Trial 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2ABC52-1335-1A69-4506-D51B88EA8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6291" y="1913926"/>
            <a:ext cx="5922958" cy="432555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D8125B-8D76-EB45-1753-95FF21173B99}"/>
              </a:ext>
            </a:extLst>
          </p:cNvPr>
          <p:cNvSpPr txBox="1"/>
          <p:nvPr/>
        </p:nvSpPr>
        <p:spPr>
          <a:xfrm>
            <a:off x="1248032" y="1408670"/>
            <a:ext cx="615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Just… one…more…turn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1FE4FF-7A6B-8587-5814-7ECDA2C58BBF}"/>
              </a:ext>
            </a:extLst>
          </p:cNvPr>
          <p:cNvSpPr txBox="1"/>
          <p:nvPr/>
        </p:nvSpPr>
        <p:spPr>
          <a:xfrm>
            <a:off x="7722973" y="1556951"/>
            <a:ext cx="41271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Tool calling -&gt; can use other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generators to iterate through DF rows of AR and Payments: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 one of AR go through each row of Payments to see if match.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data used in string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B555F-3992-34BF-8018-6F2074C1128D}"/>
              </a:ext>
            </a:extLst>
          </p:cNvPr>
          <p:cNvSpPr txBox="1"/>
          <p:nvPr/>
        </p:nvSpPr>
        <p:spPr>
          <a:xfrm>
            <a:off x="7834184" y="3588276"/>
            <a:ext cx="40159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Outcome: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Trial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Deepseek</a:t>
            </a:r>
            <a:r>
              <a:rPr lang="en-US" dirty="0"/>
              <a:t> was best for speed and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 1 minute per row for accurate models -&gt; Can end up taking a lot of time for larger DFs. </a:t>
            </a:r>
          </a:p>
        </p:txBody>
      </p:sp>
    </p:spTree>
    <p:extLst>
      <p:ext uri="{BB962C8B-B14F-4D97-AF65-F5344CB8AC3E}">
        <p14:creationId xmlns:p14="http://schemas.microsoft.com/office/powerpoint/2010/main" val="290418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1735-A888-3F9C-7957-E29D9C63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54228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318D3-FA6D-0E94-A0B3-515352715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72746"/>
            <a:ext cx="9905999" cy="4518455"/>
          </a:xfrm>
        </p:spPr>
        <p:txBody>
          <a:bodyPr/>
          <a:lstStyle/>
          <a:p>
            <a:r>
              <a:rPr lang="en-US" dirty="0"/>
              <a:t>Write good and clear prompts. Using capital letters for emphasis does work.</a:t>
            </a:r>
          </a:p>
          <a:p>
            <a:r>
              <a:rPr lang="en-US" dirty="0"/>
              <a:t>Make sure you work with data types the model understands:</a:t>
            </a:r>
          </a:p>
          <a:p>
            <a:pPr lvl="1"/>
            <a:r>
              <a:rPr lang="en-US" dirty="0"/>
              <a:t>Get really good with learning </a:t>
            </a:r>
            <a:r>
              <a:rPr lang="en-US" dirty="0" err="1"/>
              <a:t>PyDantic</a:t>
            </a:r>
            <a:r>
              <a:rPr lang="en-US" dirty="0"/>
              <a:t> for data models</a:t>
            </a:r>
          </a:p>
          <a:p>
            <a:r>
              <a:rPr lang="en-US" dirty="0"/>
              <a:t>Models from about 8bn parameters work best for subjective tasks.</a:t>
            </a:r>
          </a:p>
          <a:p>
            <a:r>
              <a:rPr lang="en-US" dirty="0"/>
              <a:t>Tools should provide data or enable calculations (some LLMs can’t do calculations).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4469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84</TotalTime>
  <Words>626</Words>
  <Application>Microsoft Macintosh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Where’s my money?</vt:lpstr>
      <vt:lpstr>The Premise</vt:lpstr>
      <vt:lpstr>Why LLMs?</vt:lpstr>
      <vt:lpstr>Accounts Receivables</vt:lpstr>
      <vt:lpstr>Payments Received</vt:lpstr>
      <vt:lpstr>Frameworks, Models, and More</vt:lpstr>
      <vt:lpstr>Agentic Workflow Trial 1</vt:lpstr>
      <vt:lpstr>Agentic Workflow Trial 2</vt:lpstr>
      <vt:lpstr>Agentic Workflow Trial 3</vt:lpstr>
      <vt:lpstr>Agentic Workflow Trial 4</vt:lpstr>
      <vt:lpstr>Learning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Al-Gurnawi</dc:creator>
  <cp:lastModifiedBy>David Al-Gurnawi</cp:lastModifiedBy>
  <cp:revision>6</cp:revision>
  <dcterms:created xsi:type="dcterms:W3CDTF">2025-12-19T09:19:29Z</dcterms:created>
  <dcterms:modified xsi:type="dcterms:W3CDTF">2025-12-19T13:38:46Z</dcterms:modified>
</cp:coreProperties>
</file>